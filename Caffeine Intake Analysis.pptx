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DM Sans Medium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84D67F-F2F8-4357-BCB7-50C9C38DCF80}">
  <a:tblStyle styleId="{AF84D67F-F2F8-4357-BCB7-50C9C38DCF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DMSansMedium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DMSans-regular.fntdata"/><Relationship Id="rId25" Type="http://schemas.openxmlformats.org/officeDocument/2006/relationships/font" Target="fonts/Merriweather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DMSa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DMSansMedium-bold.fntdata"/><Relationship Id="rId18" Type="http://schemas.openxmlformats.org/officeDocument/2006/relationships/font" Target="fonts/DM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a9a153c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a9a153c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a9a153cc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a9a153cc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a9a153cc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a9a153cc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ae03779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ae03779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a9a153cc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a9a153cc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a9a153cc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a9a153cc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a9a153cc4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a9a153cc4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a9a153cc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a9a153cc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ae037791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dae037791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ae037791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dae037791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Blake-Dee/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idx="4" type="body"/>
          </p:nvPr>
        </p:nvSpPr>
        <p:spPr>
          <a:xfrm>
            <a:off x="8208751" y="196725"/>
            <a:ext cx="8124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04</a:t>
            </a:r>
            <a:r>
              <a:rPr lang="en"/>
              <a:t>.28.26</a:t>
            </a:r>
            <a:endParaRPr/>
          </a:p>
        </p:txBody>
      </p:sp>
      <p:sp>
        <p:nvSpPr>
          <p:cNvPr id="263" name="Google Shape;263;p44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Caffeine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</a:t>
            </a:r>
            <a:endParaRPr/>
          </a:p>
        </p:txBody>
      </p:sp>
      <p:sp>
        <p:nvSpPr>
          <p:cNvPr id="264" name="Google Shape;264;p44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 Dee</a:t>
            </a:r>
            <a:endParaRPr/>
          </a:p>
        </p:txBody>
      </p:sp>
      <p:pic>
        <p:nvPicPr>
          <p:cNvPr descr="Blue and green wave pattern. " id="265" name="Google Shape;265;p4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797" l="0" r="0" t="797"/>
          <a:stretch/>
        </p:blipFill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idx="1" type="subTitle"/>
          </p:nvPr>
        </p:nvSpPr>
        <p:spPr>
          <a:xfrm>
            <a:off x="975300" y="1864050"/>
            <a:ext cx="71934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Research Question:</a:t>
            </a:r>
            <a:endParaRPr/>
          </a:p>
        </p:txBody>
      </p:sp>
      <p:sp>
        <p:nvSpPr>
          <p:cNvPr id="271" name="Google Shape;271;p45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Defining the Problem</a:t>
            </a:r>
            <a:endParaRPr/>
          </a:p>
        </p:txBody>
      </p:sp>
      <p:sp>
        <p:nvSpPr>
          <p:cNvPr id="272" name="Google Shape;272;p4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Caffeine Study</a:t>
            </a:r>
            <a:endParaRPr/>
          </a:p>
        </p:txBody>
      </p:sp>
      <p:sp>
        <p:nvSpPr>
          <p:cNvPr id="273" name="Google Shape;273;p45"/>
          <p:cNvSpPr txBox="1"/>
          <p:nvPr/>
        </p:nvSpPr>
        <p:spPr>
          <a:xfrm>
            <a:off x="1367100" y="2811675"/>
            <a:ext cx="6801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Does my caffeine intake differ between school days and days that I work during the week?</a:t>
            </a:r>
            <a:endParaRPr sz="1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>
            <p:ph type="title"/>
          </p:nvPr>
        </p:nvSpPr>
        <p:spPr>
          <a:xfrm>
            <a:off x="242050" y="405825"/>
            <a:ext cx="3151800" cy="6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</a:t>
            </a:r>
            <a:endParaRPr/>
          </a:p>
        </p:txBody>
      </p:sp>
      <p:sp>
        <p:nvSpPr>
          <p:cNvPr id="279" name="Google Shape;279;p46"/>
          <p:cNvSpPr txBox="1"/>
          <p:nvPr>
            <p:ph idx="1" type="body"/>
          </p:nvPr>
        </p:nvSpPr>
        <p:spPr>
          <a:xfrm>
            <a:off x="196950" y="1093175"/>
            <a:ext cx="3151800" cy="33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22 Observations (              )</a:t>
            </a:r>
            <a:endParaRPr sz="12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Variables:</a:t>
            </a:r>
            <a:endParaRPr sz="12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Type of day </a:t>
            </a:r>
            <a:endParaRPr sz="12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Merriweather"/>
              <a:buChar char="○"/>
            </a:pPr>
            <a:r>
              <a:rPr lang="en" sz="12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work or school</a:t>
            </a:r>
            <a:endParaRPr sz="12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Amount of caffeine consumed (mg)</a:t>
            </a:r>
            <a:endParaRPr sz="12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Merriweather"/>
              <a:buChar char="○"/>
            </a:pPr>
            <a:r>
              <a:rPr lang="en" sz="12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Used this spreadsheet to track</a:t>
            </a:r>
            <a:endParaRPr sz="12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0" name="Google Shape;280;p46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81" name="Google Shape;281;p46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Caffeine Study</a:t>
            </a:r>
            <a:endParaRPr/>
          </a:p>
        </p:txBody>
      </p:sp>
      <p:pic>
        <p:nvPicPr>
          <p:cNvPr id="282" name="Google Shape;282;p46" title="{&quot;red&quot;:89,&quot;green&quot;:89,&quot;blue&quot;:89,&quot;origURL&quot;:&quot;https://www.codecogs.com/eqnedit.php?latex=n%3D22#0&quot;,&quot;size&quot;:12,&quot;width&quot;:248.17322834645668,&quot;height&quot;:143.50393700787401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488" y="1227290"/>
            <a:ext cx="478917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7775" y="180238"/>
            <a:ext cx="3388876" cy="4783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7"/>
          <p:cNvSpPr txBox="1"/>
          <p:nvPr>
            <p:ph type="title"/>
          </p:nvPr>
        </p:nvSpPr>
        <p:spPr>
          <a:xfrm>
            <a:off x="3407850" y="405825"/>
            <a:ext cx="2328300" cy="108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Statistics</a:t>
            </a:r>
            <a:endParaRPr/>
          </a:p>
        </p:txBody>
      </p:sp>
      <p:sp>
        <p:nvSpPr>
          <p:cNvPr id="289" name="Google Shape;289;p4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Summary Statistics</a:t>
            </a:r>
            <a:endParaRPr/>
          </a:p>
        </p:txBody>
      </p:sp>
      <p:sp>
        <p:nvSpPr>
          <p:cNvPr id="290" name="Google Shape;290;p4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Caffeine Study</a:t>
            </a:r>
            <a:endParaRPr/>
          </a:p>
        </p:txBody>
      </p:sp>
      <p:graphicFrame>
        <p:nvGraphicFramePr>
          <p:cNvPr id="291" name="Google Shape;291;p47"/>
          <p:cNvGraphicFramePr/>
          <p:nvPr/>
        </p:nvGraphicFramePr>
        <p:xfrm>
          <a:off x="952500" y="154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{AF84D67F-F2F8-4357-BCB7-50C9C38DCF80}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Summary: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School Days (mg)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Work Days (mg)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Minimum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1st Quartile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284.78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3rd Quartile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Maximum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Standard Deviation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118.04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93.19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idx="1" type="subTitle"/>
          </p:nvPr>
        </p:nvSpPr>
        <p:spPr>
          <a:xfrm>
            <a:off x="975300" y="648725"/>
            <a:ext cx="71934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297" name="Google Shape;297;p4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Forming a Hypothesis</a:t>
            </a:r>
            <a:endParaRPr/>
          </a:p>
        </p:txBody>
      </p:sp>
      <p:sp>
        <p:nvSpPr>
          <p:cNvPr id="298" name="Google Shape;298;p4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3"/>
                </a:solidFill>
              </a:rPr>
              <a:t>Caffeine Study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99" name="Google Shape;299;p48"/>
          <p:cNvSpPr txBox="1"/>
          <p:nvPr/>
        </p:nvSpPr>
        <p:spPr>
          <a:xfrm>
            <a:off x="975300" y="1415500"/>
            <a:ext cx="71934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DM Sans"/>
                <a:ea typeface="DM Sans"/>
                <a:cs typeface="DM Sans"/>
                <a:sym typeface="DM Sans"/>
              </a:rPr>
              <a:t>Claim: There is no difference in average daily caffeine intake between school days and work days.</a:t>
            </a:r>
            <a:endParaRPr sz="1800">
              <a:solidFill>
                <a:schemeClr val="accent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accent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DM Sans"/>
                <a:ea typeface="DM Sans"/>
                <a:cs typeface="DM Sans"/>
                <a:sym typeface="DM Sans"/>
              </a:rPr>
              <a:t>Variables:</a:t>
            </a:r>
            <a:endParaRPr sz="1800">
              <a:solidFill>
                <a:schemeClr val="accent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DM Sans"/>
                <a:ea typeface="DM Sans"/>
                <a:cs typeface="DM Sans"/>
                <a:sym typeface="DM Sans"/>
              </a:rPr>
              <a:t>	Dependent: Caffeine Consumed (mg)</a:t>
            </a:r>
            <a:endParaRPr sz="1800">
              <a:solidFill>
                <a:schemeClr val="accent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DM Sans"/>
                <a:ea typeface="DM Sans"/>
                <a:cs typeface="DM Sans"/>
                <a:sym typeface="DM Sans"/>
              </a:rPr>
              <a:t>	Independent: Type of day (school or work)</a:t>
            </a:r>
            <a:endParaRPr sz="1800">
              <a:solidFill>
                <a:schemeClr val="accent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/>
          <p:nvPr>
            <p:ph type="title"/>
          </p:nvPr>
        </p:nvSpPr>
        <p:spPr>
          <a:xfrm>
            <a:off x="197375" y="600075"/>
            <a:ext cx="3151800" cy="10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Testing:</a:t>
            </a:r>
            <a:endParaRPr/>
          </a:p>
        </p:txBody>
      </p:sp>
      <p:sp>
        <p:nvSpPr>
          <p:cNvPr id="305" name="Google Shape;305;p49"/>
          <p:cNvSpPr txBox="1"/>
          <p:nvPr>
            <p:ph idx="1" type="body"/>
          </p:nvPr>
        </p:nvSpPr>
        <p:spPr>
          <a:xfrm>
            <a:off x="197375" y="1661475"/>
            <a:ext cx="3151800" cy="28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/>
              <a:t>Null Hypothesis: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/>
              <a:t>Alternative Hypothesis: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/>
              <a:t>Testing: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2200"/>
              <a:t>2 sample t-test</a:t>
            </a:r>
            <a:endParaRPr sz="2200"/>
          </a:p>
        </p:txBody>
      </p:sp>
      <p:sp>
        <p:nvSpPr>
          <p:cNvPr id="306" name="Google Shape;306;p49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Hypothesis Testing</a:t>
            </a:r>
            <a:endParaRPr/>
          </a:p>
        </p:txBody>
      </p:sp>
      <p:sp>
        <p:nvSpPr>
          <p:cNvPr id="307" name="Google Shape;307;p4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Caffeine Study</a:t>
            </a:r>
            <a:endParaRPr/>
          </a:p>
        </p:txBody>
      </p:sp>
      <p:pic>
        <p:nvPicPr>
          <p:cNvPr descr="Blue and green wave pattern. " id="308" name="Google Shape;308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473" l="21646" r="17924" t="146"/>
          <a:stretch/>
        </p:blipFill>
        <p:spPr>
          <a:xfrm rot="5400000">
            <a:off x="4575925" y="583125"/>
            <a:ext cx="4289700" cy="4323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309" name="Google Shape;309;p49" title="{&quot;red&quot;:18,&quot;green&quot;:18,&quot;blue&quot;:18,&quot;origURL&quot;:&quot;https://www.codecogs.com/eqnedit.php?latex=H_0%3A%20%5C%20%5Cmu_%7Bschool%7D%20%3D%20%5Cmu_%7Bwork%7D#0&quot;,&quot;size&quot;:10,&quot;width&quot;:248.17322834645668,&quot;height&quot;:224.1496062992126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375" y="2140050"/>
            <a:ext cx="2769126" cy="2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 title="{&quot;red&quot;:18,&quot;green&quot;:18,&quot;blue&quot;:18,&quot;origURL&quot;:&quot;https://www.codecogs.com/eqnedit.php?latex=H_%5Calpha%3A%20%5C%20%5Cmu_%7Bschool%7D%20%5Cneq%20%5Cmu_%7Bwork%7D#0&quot;,&quot;size&quot;:10,&quot;width&quot;:248.17322834645668,&quot;height&quot;:224.1496062992126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375" y="2931738"/>
            <a:ext cx="2769125" cy="306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0"/>
          <p:cNvSpPr txBox="1"/>
          <p:nvPr>
            <p:ph type="title"/>
          </p:nvPr>
        </p:nvSpPr>
        <p:spPr>
          <a:xfrm>
            <a:off x="197375" y="525700"/>
            <a:ext cx="3151800" cy="10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Testing:</a:t>
            </a:r>
            <a:endParaRPr/>
          </a:p>
        </p:txBody>
      </p:sp>
      <p:sp>
        <p:nvSpPr>
          <p:cNvPr id="316" name="Google Shape;316;p50"/>
          <p:cNvSpPr txBox="1"/>
          <p:nvPr>
            <p:ph idx="1" type="body"/>
          </p:nvPr>
        </p:nvSpPr>
        <p:spPr>
          <a:xfrm>
            <a:off x="197375" y="1713275"/>
            <a:ext cx="31518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Statistic</a:t>
            </a:r>
            <a:endParaRPr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T= -0.29879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P-value: 0.7683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Using a </a:t>
            </a:r>
            <a:r>
              <a:rPr lang="en"/>
              <a:t>significance</a:t>
            </a:r>
            <a:r>
              <a:rPr lang="en"/>
              <a:t> level of 0,05, we fail to reject the null hypothesis,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0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Hypothesis Testing</a:t>
            </a:r>
            <a:endParaRPr/>
          </a:p>
        </p:txBody>
      </p:sp>
      <p:sp>
        <p:nvSpPr>
          <p:cNvPr id="318" name="Google Shape;318;p50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Caffeine Study</a:t>
            </a:r>
            <a:endParaRPr/>
          </a:p>
        </p:txBody>
      </p:sp>
      <p:pic>
        <p:nvPicPr>
          <p:cNvPr id="319" name="Google Shape;3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813" y="3363650"/>
            <a:ext cx="6318375" cy="15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1"/>
          <p:cNvSpPr txBox="1"/>
          <p:nvPr>
            <p:ph type="title"/>
          </p:nvPr>
        </p:nvSpPr>
        <p:spPr>
          <a:xfrm>
            <a:off x="1555950" y="405825"/>
            <a:ext cx="6032100" cy="6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Drawing a Conclusion</a:t>
            </a:r>
            <a:endParaRPr/>
          </a:p>
        </p:txBody>
      </p:sp>
      <p:sp>
        <p:nvSpPr>
          <p:cNvPr id="325" name="Google Shape;325;p51"/>
          <p:cNvSpPr txBox="1"/>
          <p:nvPr>
            <p:ph idx="1" type="body"/>
          </p:nvPr>
        </p:nvSpPr>
        <p:spPr>
          <a:xfrm>
            <a:off x="568350" y="1104225"/>
            <a:ext cx="37581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/>
              <a:t>Since the p-value, 0.7683, is greater than 0.05, we fail to reject the null hypothesis.</a:t>
            </a:r>
            <a:endParaRPr sz="2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50"/>
              <a:t>There is not enough evidence to support the claim that the mean caffeine intake on school days is different to that of work days.</a:t>
            </a:r>
            <a:endParaRPr sz="2250"/>
          </a:p>
        </p:txBody>
      </p:sp>
      <p:sp>
        <p:nvSpPr>
          <p:cNvPr id="326" name="Google Shape;3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51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Drawing a Conclusion</a:t>
            </a:r>
            <a:endParaRPr/>
          </a:p>
        </p:txBody>
      </p:sp>
      <p:sp>
        <p:nvSpPr>
          <p:cNvPr id="328" name="Google Shape;328;p51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Caffeine Study</a:t>
            </a:r>
            <a:endParaRPr/>
          </a:p>
        </p:txBody>
      </p:sp>
      <p:pic>
        <p:nvPicPr>
          <p:cNvPr id="329" name="Google Shape;32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1104232"/>
            <a:ext cx="4041599" cy="2581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2"/>
          <p:cNvSpPr txBox="1"/>
          <p:nvPr>
            <p:ph type="title"/>
          </p:nvPr>
        </p:nvSpPr>
        <p:spPr>
          <a:xfrm>
            <a:off x="2996100" y="1120675"/>
            <a:ext cx="3151800" cy="6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Limitations:</a:t>
            </a:r>
            <a:endParaRPr/>
          </a:p>
        </p:txBody>
      </p:sp>
      <p:sp>
        <p:nvSpPr>
          <p:cNvPr id="335" name="Google Shape;335;p52"/>
          <p:cNvSpPr txBox="1"/>
          <p:nvPr>
            <p:ph idx="1" type="body"/>
          </p:nvPr>
        </p:nvSpPr>
        <p:spPr>
          <a:xfrm>
            <a:off x="2057400" y="2100525"/>
            <a:ext cx="50301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Small data set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An outlier (34mg) affecting results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Only reflects my habits, not a population’s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Self-reported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Other variables might have contributed to an increase or decrease in caffeine intake (i.e. sleep </a:t>
            </a:r>
            <a:r>
              <a:rPr lang="en" sz="1200"/>
              <a:t>quality</a:t>
            </a:r>
            <a:r>
              <a:rPr lang="en" sz="1200"/>
              <a:t>, stress, etc.)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Potential inaccuracies for caffeine count during a day</a:t>
            </a:r>
            <a:endParaRPr sz="1200"/>
          </a:p>
        </p:txBody>
      </p:sp>
      <p:sp>
        <p:nvSpPr>
          <p:cNvPr id="336" name="Google Shape;336;p52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337" name="Google Shape;337;p52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Caffeine Study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/>
          <p:nvPr>
            <p:ph type="title"/>
          </p:nvPr>
        </p:nvSpPr>
        <p:spPr>
          <a:xfrm>
            <a:off x="3743700" y="1277400"/>
            <a:ext cx="1656600" cy="58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sp>
        <p:nvSpPr>
          <p:cNvPr id="343" name="Google Shape;343;p53"/>
          <p:cNvSpPr txBox="1"/>
          <p:nvPr>
            <p:ph idx="1" type="body"/>
          </p:nvPr>
        </p:nvSpPr>
        <p:spPr>
          <a:xfrm>
            <a:off x="2362625" y="2386100"/>
            <a:ext cx="49515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 u="sng">
                <a:solidFill>
                  <a:schemeClr val="hlink"/>
                </a:solidFill>
                <a:hlinkClick r:id="rId3"/>
              </a:rPr>
              <a:t>https://github.com/Blake-Dee/DATA</a:t>
            </a:r>
            <a:endParaRPr sz="2200"/>
          </a:p>
        </p:txBody>
      </p:sp>
      <p:sp>
        <p:nvSpPr>
          <p:cNvPr id="344" name="Google Shape;344;p53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Github Link</a:t>
            </a:r>
            <a:endParaRPr/>
          </a:p>
        </p:txBody>
      </p:sp>
      <p:sp>
        <p:nvSpPr>
          <p:cNvPr id="345" name="Google Shape;345;p5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Caffeine Study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